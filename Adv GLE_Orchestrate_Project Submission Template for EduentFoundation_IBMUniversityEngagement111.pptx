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91" r:id="rId9"/>
    <p:sldId id="264" r:id="rId10"/>
    <p:sldId id="286" r:id="rId11"/>
    <p:sldId id="280" r:id="rId12"/>
    <p:sldId id="288" r:id="rId13"/>
    <p:sldId id="292" r:id="rId14"/>
    <p:sldId id="289" r:id="rId15"/>
    <p:sldId id="287"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60320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ruturajgandhi1-oss/MindGuard"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5530031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Ruturaj Pravin Gandhi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ruturajgandhi1@gmail.com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8446454014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 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567526"/>
            <a:ext cx="9581177" cy="1200329"/>
          </a:xfrm>
          <a:prstGeom prst="rect">
            <a:avLst/>
          </a:prstGeom>
          <a:noFill/>
        </p:spPr>
        <p:txBody>
          <a:bodyPr wrap="square" rtlCol="0">
            <a:spAutoFit/>
          </a:bodyPr>
          <a:lstStyle/>
          <a:p>
            <a:r>
              <a:rPr lang="en-US" sz="2400" b="1" dirty="0"/>
              <a:t>Project Tile – </a:t>
            </a:r>
            <a:r>
              <a:rPr lang="en-IN" sz="2400" b="1" dirty="0"/>
              <a:t>Agentic AI for Mental Health Awareness &amp; Suicide Prevention</a:t>
            </a:r>
          </a:p>
          <a:p>
            <a:endParaRPr lang="en-IN" sz="2400" b="1" dirty="0">
              <a:highlight>
                <a:srgbClr val="FFFF00"/>
              </a:highlight>
            </a:endParaRPr>
          </a:p>
        </p:txBody>
      </p:sp>
      <p:pic>
        <p:nvPicPr>
          <p:cNvPr id="5" name="Picture 4">
            <a:extLst>
              <a:ext uri="{FF2B5EF4-FFF2-40B4-BE49-F238E27FC236}">
                <a16:creationId xmlns:a16="http://schemas.microsoft.com/office/drawing/2014/main" id="{16FC6711-EC10-D684-60CB-00B8925C351F}"/>
              </a:ext>
            </a:extLst>
          </p:cNvPr>
          <p:cNvPicPr>
            <a:picLocks noChangeAspect="1"/>
          </p:cNvPicPr>
          <p:nvPr/>
        </p:nvPicPr>
        <p:blipFill>
          <a:blip r:embed="rId3"/>
          <a:stretch>
            <a:fillRect/>
          </a:stretch>
        </p:blipFill>
        <p:spPr>
          <a:xfrm>
            <a:off x="4025009" y="3714230"/>
            <a:ext cx="828733" cy="9847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 Agentic AI for Mental Health Awareness &amp; Suicide Prevention</a:t>
            </a:r>
            <a:br>
              <a:rPr lang="en-US" b="1" dirty="0"/>
            </a:br>
            <a:br>
              <a:rPr lang="en-US" b="1" dirty="0"/>
            </a:br>
            <a:r>
              <a:rPr lang="en-US" b="1" dirty="0"/>
              <a:t>The Challenge-</a:t>
            </a:r>
            <a:br>
              <a:rPr lang="en-US" b="1" dirty="0"/>
            </a:br>
            <a:r>
              <a:rPr lang="en-US" b="1" dirty="0"/>
              <a:t> 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 The Objective Build an Agentic AI-powered Mental Health Awareness &amp; Suicide Prevention Agent that is empathetic, proactive, and safe. </a:t>
            </a:r>
            <a:br>
              <a:rPr lang="en-US" b="1" dirty="0"/>
            </a:br>
            <a:br>
              <a:rPr lang="en-US" b="1" dirty="0"/>
            </a:br>
            <a:r>
              <a:rPr lang="en-US" b="1" dirty="0"/>
              <a:t>The solution should: </a:t>
            </a:r>
            <a:br>
              <a:rPr lang="en-US" b="1" dirty="0"/>
            </a:br>
            <a:r>
              <a:rPr lang="en-US" b="1" dirty="0"/>
              <a:t>1. Promote Awareness &amp; Education – Share accessible resources on mindfulness, coping strategies, and self-care. </a:t>
            </a:r>
            <a:br>
              <a:rPr lang="en-US" b="1" dirty="0"/>
            </a:br>
            <a:r>
              <a:rPr lang="en-US" b="1" dirty="0"/>
              <a:t>2. Enable Early Detection (RAG) – Use Retrieval-Augmented Generation to identify distress signals in conversations, journaling inputs, or safe online data. </a:t>
            </a:r>
            <a:br>
              <a:rPr lang="en-US" b="1" dirty="0"/>
            </a:br>
            <a:r>
              <a:rPr lang="en-US" b="1" dirty="0"/>
              <a:t>3. Provide Empathetic Support – Build a conversational agent that listens actively and responds with empathy (with clear disclaimers: not a substitute for professional medical advice). </a:t>
            </a:r>
            <a:br>
              <a:rPr lang="en-US" b="1" dirty="0"/>
            </a:br>
            <a:r>
              <a:rPr lang="en-US" b="1" dirty="0"/>
              <a:t>4. Predict &amp; Prevent Risks – Forecast stress peaks, suggest preventive strategies, and issue alerts when high-risk signals are detected (with consent). </a:t>
            </a:r>
            <a:br>
              <a:rPr lang="en-US" b="1" dirty="0"/>
            </a:br>
            <a:r>
              <a:rPr lang="en-US" b="1" dirty="0"/>
              <a:t>5. Connect to Human Support – Link users to helplines, counselors, or community support for timely intervention. Tech Stack (Mandatory) • IBM </a:t>
            </a:r>
            <a:r>
              <a:rPr lang="en-US" b="1" dirty="0" err="1"/>
              <a:t>Langflow</a:t>
            </a:r>
            <a:r>
              <a:rPr lang="en-US" b="1" dirty="0"/>
              <a:t> / IBM Orchestrate + IBM Models </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73769"/>
            <a:ext cx="10607040" cy="5047536"/>
          </a:xfrm>
          <a:prstGeom prst="rect">
            <a:avLst/>
          </a:prstGeom>
          <a:noFill/>
        </p:spPr>
        <p:txBody>
          <a:bodyPr wrap="square" rtlCol="0">
            <a:spAutoFit/>
          </a:bodyPr>
          <a:lstStyle/>
          <a:p>
            <a:pPr fontAlgn="base"/>
            <a:endParaRPr lang="en-US" b="1" dirty="0"/>
          </a:p>
          <a:p>
            <a:r>
              <a:rPr lang="en-IN" b="1" dirty="0"/>
              <a:t>Proposed Solution: AI-Powered Mental Health Support Agent (</a:t>
            </a:r>
            <a:r>
              <a:rPr lang="en-IN" b="1" dirty="0" err="1"/>
              <a:t>MindGuard</a:t>
            </a:r>
            <a:r>
              <a:rPr lang="en-IN" b="1" dirty="0"/>
              <a:t>)</a:t>
            </a:r>
            <a:endParaRPr lang="en-IN" dirty="0"/>
          </a:p>
          <a:p>
            <a:endParaRPr lang="en-IN" b="1" dirty="0"/>
          </a:p>
          <a:p>
            <a:r>
              <a:rPr lang="en-IN" b="1" dirty="0" err="1"/>
              <a:t>MindGuard</a:t>
            </a:r>
            <a:r>
              <a:rPr lang="en-IN" dirty="0"/>
              <a:t> is a multi-agent AI-powered mental health assistant built using </a:t>
            </a:r>
            <a:r>
              <a:rPr lang="en-IN" b="1" dirty="0" err="1"/>
              <a:t>LangFlow</a:t>
            </a:r>
            <a:r>
              <a:rPr lang="en-IN" b="1" dirty="0"/>
              <a:t>, IBM watsonx.ai, and Granite Models</a:t>
            </a:r>
            <a:r>
              <a:rPr lang="en-IN" dirty="0"/>
              <a:t> to promote mental health awareness, provide empathetic support, enable early distress detection, and assist in suicide prevention.</a:t>
            </a:r>
          </a:p>
          <a:p>
            <a:r>
              <a:rPr lang="en-IN" dirty="0"/>
              <a:t>The solution uses a </a:t>
            </a:r>
            <a:r>
              <a:rPr lang="en-IN" b="1" dirty="0"/>
              <a:t>Retrieval-Augmented Generation (RAG)</a:t>
            </a:r>
            <a:r>
              <a:rPr lang="en-IN" dirty="0"/>
              <a:t> pipeline to retrieve reliable mental health information from trusted sources such as </a:t>
            </a:r>
            <a:r>
              <a:rPr lang="en-IN" b="1" dirty="0"/>
              <a:t>WHO</a:t>
            </a:r>
            <a:r>
              <a:rPr lang="en-IN" dirty="0"/>
              <a:t> and </a:t>
            </a:r>
            <a:r>
              <a:rPr lang="en-IN" b="1" dirty="0"/>
              <a:t>NIMH</a:t>
            </a:r>
            <a:r>
              <a:rPr lang="en-IN" dirty="0"/>
              <a:t>. The knowledge is stored in a vector database, enabling accurate, context-aware guidance on stress management, mindfulness, and emotional well-being.</a:t>
            </a:r>
          </a:p>
          <a:p>
            <a:endParaRPr lang="en-IN" b="1" dirty="0"/>
          </a:p>
          <a:p>
            <a:r>
              <a:rPr lang="en-IN" b="1" dirty="0"/>
              <a:t>Key Agents:</a:t>
            </a:r>
            <a:endParaRPr lang="en-IN" dirty="0"/>
          </a:p>
          <a:p>
            <a:pPr marL="285750" indent="-285750">
              <a:buFont typeface="Arial" panose="020B0604020202020204" pitchFamily="34" charset="0"/>
              <a:buChar char="•"/>
            </a:pPr>
            <a:r>
              <a:rPr lang="en-IN" b="1" dirty="0"/>
              <a:t>Knowledge Agent:</a:t>
            </a:r>
            <a:r>
              <a:rPr lang="en-IN" dirty="0"/>
              <a:t> Retrieves evidence-based mental health resources using RAG.</a:t>
            </a:r>
          </a:p>
          <a:p>
            <a:pPr marL="285750" indent="-285750">
              <a:buFont typeface="Arial" panose="020B0604020202020204" pitchFamily="34" charset="0"/>
              <a:buChar char="•"/>
            </a:pPr>
            <a:r>
              <a:rPr lang="en-IN" b="1" dirty="0"/>
              <a:t>Emotional Support Agent:</a:t>
            </a:r>
            <a:r>
              <a:rPr lang="en-IN" dirty="0"/>
              <a:t> Provides empathetic conversations, self-care tips, and personalized coping strategies.</a:t>
            </a:r>
          </a:p>
          <a:p>
            <a:pPr marL="285750" indent="-285750">
              <a:buFont typeface="Arial" panose="020B0604020202020204" pitchFamily="34" charset="0"/>
              <a:buChar char="•"/>
            </a:pPr>
            <a:r>
              <a:rPr lang="en-IN" b="1" dirty="0"/>
              <a:t>Risk Detection Agent:</a:t>
            </a:r>
            <a:r>
              <a:rPr lang="en-IN" dirty="0"/>
              <a:t> Identifies signs of emotional distress from conversations or journal entries, predicts stress levels, and issues alerts (with user consent).</a:t>
            </a:r>
          </a:p>
          <a:p>
            <a:endParaRPr lang="en-IN" b="1" dirty="0"/>
          </a:p>
          <a:p>
            <a:r>
              <a:rPr lang="en-IN" b="1" dirty="0"/>
              <a:t>Crisis Support Agent:</a:t>
            </a:r>
            <a:r>
              <a:rPr lang="en-IN" dirty="0"/>
              <a:t> Connects users to counselors, helplines, or emergency support when high-risk situations are detected.</a:t>
            </a:r>
          </a:p>
          <a:p>
            <a:r>
              <a:rPr lang="en-IN" dirty="0"/>
              <a:t>A </a:t>
            </a:r>
            <a:r>
              <a:rPr lang="en-IN" b="1" dirty="0"/>
              <a:t>Streamlit/React dashboard</a:t>
            </a:r>
            <a:r>
              <a:rPr lang="en-IN" dirty="0"/>
              <a:t> visualizes mood trends, stress levels, journaling insights, and wellness progress. </a:t>
            </a:r>
            <a:r>
              <a:rPr lang="en-IN" b="1" dirty="0" err="1"/>
              <a:t>LangFlow</a:t>
            </a:r>
            <a:r>
              <a:rPr lang="en-IN" dirty="0"/>
              <a:t> orchestrates agent workflows, </a:t>
            </a:r>
            <a:r>
              <a:rPr lang="en-IN" b="1" dirty="0"/>
              <a:t>watsonx.ai</a:t>
            </a:r>
            <a:r>
              <a:rPr lang="en-IN" dirty="0"/>
              <a:t> ensures scalable AI deployment and governance, while </a:t>
            </a:r>
            <a:r>
              <a:rPr lang="en-IN" b="1" dirty="0"/>
              <a:t>Granite Models</a:t>
            </a:r>
            <a:r>
              <a:rPr lang="en-IN" dirty="0"/>
              <a:t> power reasoning, emotional understanding, and personalized recommendations.</a:t>
            </a:r>
          </a:p>
          <a:p>
            <a:endParaRPr lang="en-IN" dirty="0"/>
          </a:p>
          <a:p>
            <a:r>
              <a:rPr lang="en-IN" dirty="0"/>
              <a:t>Overall, </a:t>
            </a:r>
            <a:r>
              <a:rPr lang="en-IN" b="1" dirty="0" err="1"/>
              <a:t>MindGuard</a:t>
            </a:r>
            <a:r>
              <a:rPr lang="en-IN" dirty="0"/>
              <a:t> provides a secure, intelligent, and compassionate mental health support system that encourages early intervention, preventive care, and timely access to professional help.</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Cloud</a:t>
            </a:r>
            <a:r>
              <a:rPr lang="en-IN" sz="1800" dirty="0"/>
              <a:t> – It provides the secure and scalable infrastructure to build, deploy, and manage the </a:t>
            </a:r>
            <a:r>
              <a:rPr lang="en-IN" sz="1800" b="1" dirty="0" err="1"/>
              <a:t>MindGuard</a:t>
            </a:r>
            <a:r>
              <a:rPr lang="en-IN" sz="1800" dirty="0"/>
              <a:t> AI system. IBM Cloud enables reliable hosting, seamless integration of AI services, and efficient scaling to deliver real-time mental health support and risk detection.</a:t>
            </a:r>
          </a:p>
          <a:p>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Orchestrate 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555641"/>
          </a:xfrm>
          <a:prstGeom prst="rect">
            <a:avLst/>
          </a:prstGeom>
          <a:noFill/>
        </p:spPr>
        <p:txBody>
          <a:bodyPr wrap="square" rtlCol="0">
            <a:spAutoFit/>
          </a:bodyPr>
          <a:lstStyle/>
          <a:p>
            <a:endParaRPr lang="en-US" dirty="0"/>
          </a:p>
          <a:p>
            <a:pPr marL="342900" indent="-342900">
              <a:buFont typeface="+mj-lt"/>
              <a:buAutoNum type="arabicPeriod"/>
            </a:pPr>
            <a:r>
              <a:rPr lang="en-IN" b="1" dirty="0"/>
              <a:t>Chat Input</a:t>
            </a:r>
            <a:r>
              <a:rPr lang="en-IN" dirty="0"/>
              <a:t> – Captures user messages, emotions, journal entries, and mental health concerns through text or voice.</a:t>
            </a:r>
          </a:p>
          <a:p>
            <a:pPr marL="342900" indent="-342900">
              <a:buFont typeface="+mj-lt"/>
              <a:buAutoNum type="arabicPeriod"/>
            </a:pPr>
            <a:endParaRPr lang="en-IN" b="1" dirty="0"/>
          </a:p>
          <a:p>
            <a:pPr marL="342900" indent="-342900">
              <a:buFont typeface="+mj-lt"/>
              <a:buAutoNum type="arabicPeriod"/>
            </a:pPr>
            <a:r>
              <a:rPr lang="en-IN" b="1" dirty="0"/>
              <a:t>IBM </a:t>
            </a:r>
            <a:r>
              <a:rPr lang="en-IN" b="1" dirty="0" err="1"/>
              <a:t>Langflow</a:t>
            </a:r>
            <a:r>
              <a:rPr lang="en-IN" b="1" dirty="0"/>
              <a:t> / IBM Orchestrate Agent</a:t>
            </a:r>
            <a:r>
              <a:rPr lang="en-IN" dirty="0"/>
              <a:t> – Manages AI workflows for conversation analysis, support generation, risk detection, and resource retrieval.</a:t>
            </a:r>
          </a:p>
          <a:p>
            <a:pPr marL="342900" indent="-342900">
              <a:buFont typeface="+mj-lt"/>
              <a:buAutoNum type="arabicPeriod"/>
            </a:pPr>
            <a:endParaRPr lang="en-IN" b="1" dirty="0"/>
          </a:p>
          <a:p>
            <a:pPr marL="342900" indent="-342900">
              <a:buFont typeface="+mj-lt"/>
              <a:buAutoNum type="arabicPeriod"/>
            </a:pPr>
            <a:r>
              <a:rPr lang="en-IN" b="1" dirty="0"/>
              <a:t>IBM Granite Model – Granite-4.0-8B-Instruct</a:t>
            </a:r>
            <a:r>
              <a:rPr lang="en-IN" dirty="0"/>
              <a:t> – Generates empathetic responses, identifies distress signals, and provides mental health guidance.</a:t>
            </a:r>
          </a:p>
          <a:p>
            <a:pPr marL="342900" indent="-342900">
              <a:buFont typeface="+mj-lt"/>
              <a:buAutoNum type="arabicPeriod"/>
            </a:pPr>
            <a:endParaRPr lang="en-IN" b="1" dirty="0"/>
          </a:p>
          <a:p>
            <a:pPr marL="342900" indent="-342900">
              <a:buFont typeface="+mj-lt"/>
              <a:buAutoNum type="arabicPeriod"/>
            </a:pPr>
            <a:r>
              <a:rPr lang="en-IN" b="1" dirty="0"/>
              <a:t>RAG Component</a:t>
            </a:r>
            <a:r>
              <a:rPr lang="en-IN" dirty="0"/>
              <a:t> – Retrieves trusted mental health resources, coping strategies, and crisis support information.</a:t>
            </a:r>
          </a:p>
          <a:p>
            <a:pPr marL="342900" indent="-342900">
              <a:buFont typeface="+mj-lt"/>
              <a:buAutoNum type="arabicPeriod"/>
            </a:pPr>
            <a:endParaRPr lang="en-IN" b="1" dirty="0"/>
          </a:p>
          <a:p>
            <a:pPr marL="342900" indent="-342900">
              <a:buFont typeface="+mj-lt"/>
              <a:buAutoNum type="arabicPeriod"/>
            </a:pPr>
            <a:r>
              <a:rPr lang="en-IN" b="1" dirty="0"/>
              <a:t>Chat Output</a:t>
            </a:r>
            <a:r>
              <a:rPr lang="en-IN" dirty="0"/>
              <a:t> – Displays empathetic responses, self-care suggestions, awareness content, and professional help recommendations.</a:t>
            </a:r>
          </a:p>
          <a:p>
            <a:pPr marL="342900" indent="-342900">
              <a:buFont typeface="+mj-lt"/>
              <a:buAutoNum type="arabicPeriod"/>
            </a:pPr>
            <a:endParaRPr lang="en-IN" b="1" dirty="0"/>
          </a:p>
          <a:p>
            <a:pPr marL="342900" indent="-342900">
              <a:buFont typeface="+mj-lt"/>
              <a:buAutoNum type="arabicPeriod"/>
            </a:pPr>
            <a:r>
              <a:rPr lang="en-IN" b="1" dirty="0"/>
              <a:t>File Component</a:t>
            </a:r>
            <a:r>
              <a:rPr lang="en-IN" dirty="0"/>
              <a:t> – Stores consent-based user data, mood logs, and mental health resource datasets.</a:t>
            </a:r>
          </a:p>
          <a:p>
            <a:pPr marL="342900" indent="-342900">
              <a:buFont typeface="+mj-lt"/>
              <a:buAutoNum type="arabicPeriod"/>
            </a:pPr>
            <a:endParaRPr lang="en-IN" b="1" dirty="0"/>
          </a:p>
          <a:p>
            <a:pPr marL="342900" indent="-342900">
              <a:buFont typeface="+mj-lt"/>
              <a:buAutoNum type="arabicPeriod"/>
            </a:pPr>
            <a:r>
              <a:rPr lang="en-IN" b="1" dirty="0"/>
              <a:t>Risk Detection &amp; Alert Component</a:t>
            </a:r>
            <a:r>
              <a:rPr lang="en-IN" dirty="0"/>
              <a:t> – Identifies high-risk signals and suggests timely intervention with user consent.</a:t>
            </a:r>
          </a:p>
          <a:p>
            <a:pPr marL="342900" indent="-342900">
              <a:buFont typeface="+mj-lt"/>
              <a:buAutoNum type="arabicPeriod"/>
            </a:pPr>
            <a:endParaRPr lang="en-IN" b="1" dirty="0"/>
          </a:p>
          <a:p>
            <a:pPr marL="342900" indent="-342900">
              <a:buFont typeface="+mj-lt"/>
              <a:buAutoNum type="arabicPeriod"/>
            </a:pPr>
            <a:r>
              <a:rPr lang="en-IN" b="1" dirty="0"/>
              <a:t>Human Support Integration</a:t>
            </a:r>
            <a:r>
              <a:rPr lang="en-IN" dirty="0"/>
              <a:t> – Connects users with counselors, helplines, and community support services.</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4" name="Picture 3">
            <a:extLst>
              <a:ext uri="{FF2B5EF4-FFF2-40B4-BE49-F238E27FC236}">
                <a16:creationId xmlns:a16="http://schemas.microsoft.com/office/drawing/2014/main" id="{98AE42D4-5476-D239-E2D4-30814C78E1D7}"/>
              </a:ext>
            </a:extLst>
          </p:cNvPr>
          <p:cNvPicPr>
            <a:picLocks noChangeAspect="1"/>
          </p:cNvPicPr>
          <p:nvPr/>
        </p:nvPicPr>
        <p:blipFill>
          <a:blip r:embed="rId3"/>
          <a:stretch>
            <a:fillRect/>
          </a:stretch>
        </p:blipFill>
        <p:spPr>
          <a:xfrm>
            <a:off x="255639" y="771747"/>
            <a:ext cx="11543072" cy="589452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pic>
        <p:nvPicPr>
          <p:cNvPr id="8" name="Picture 7">
            <a:extLst>
              <a:ext uri="{FF2B5EF4-FFF2-40B4-BE49-F238E27FC236}">
                <a16:creationId xmlns:a16="http://schemas.microsoft.com/office/drawing/2014/main" id="{AC994E95-BBA5-F3BE-5DED-A9A396AED1AD}"/>
              </a:ext>
            </a:extLst>
          </p:cNvPr>
          <p:cNvPicPr>
            <a:picLocks noChangeAspect="1"/>
          </p:cNvPicPr>
          <p:nvPr/>
        </p:nvPicPr>
        <p:blipFill>
          <a:blip r:embed="rId3"/>
          <a:stretch>
            <a:fillRect/>
          </a:stretch>
        </p:blipFill>
        <p:spPr>
          <a:xfrm>
            <a:off x="265471" y="871315"/>
            <a:ext cx="11661058" cy="5499988"/>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5" name="TextBox 4">
            <a:extLst>
              <a:ext uri="{FF2B5EF4-FFF2-40B4-BE49-F238E27FC236}">
                <a16:creationId xmlns:a16="http://schemas.microsoft.com/office/drawing/2014/main" id="{E9D4D16D-8C64-F585-899B-FB43279A46EE}"/>
              </a:ext>
            </a:extLst>
          </p:cNvPr>
          <p:cNvSpPr txBox="1"/>
          <p:nvPr/>
        </p:nvSpPr>
        <p:spPr>
          <a:xfrm>
            <a:off x="589949" y="990512"/>
            <a:ext cx="6813741" cy="5016758"/>
          </a:xfrm>
          <a:prstGeom prst="rect">
            <a:avLst/>
          </a:prstGeom>
          <a:noFill/>
        </p:spPr>
        <p:txBody>
          <a:bodyPr wrap="square">
            <a:spAutoFit/>
          </a:bodyPr>
          <a:lstStyle/>
          <a:p>
            <a:pPr>
              <a:buNone/>
            </a:pPr>
            <a:r>
              <a:rPr lang="en-IN" sz="1600" b="1" dirty="0"/>
              <a:t>Role of Agentic AI in Mental Health Awareness &amp; Suicide Prevention Agent</a:t>
            </a:r>
          </a:p>
          <a:p>
            <a:pPr>
              <a:buNone/>
            </a:pPr>
            <a:endParaRPr lang="en-IN" sz="1600" dirty="0"/>
          </a:p>
          <a:p>
            <a:pPr>
              <a:buNone/>
            </a:pPr>
            <a:r>
              <a:rPr lang="en-IN" sz="1600" dirty="0"/>
              <a:t>Agentic AI enables the Mental Health Agent to work as an intelligent and proactive support system rather than a simple chatbot. Using IBM </a:t>
            </a:r>
            <a:r>
              <a:rPr lang="en-IN" sz="1600" dirty="0" err="1"/>
              <a:t>Langflow</a:t>
            </a:r>
            <a:r>
              <a:rPr lang="en-IN" sz="1600" dirty="0"/>
              <a:t>/IBM Orchestrate and IBM Granite models, it coordinates multiple agents for emotional analysis, RAG-based resource retrieval, risk detection, and personalized support.</a:t>
            </a:r>
          </a:p>
          <a:p>
            <a:pPr>
              <a:buNone/>
            </a:pPr>
            <a:endParaRPr lang="en-IN" sz="1600" dirty="0"/>
          </a:p>
          <a:p>
            <a:pPr>
              <a:buNone/>
            </a:pPr>
            <a:r>
              <a:rPr lang="en-IN" sz="1600" dirty="0"/>
              <a:t>Each agent handles specific tasks such as identifying distress signals, providing coping strategies, sharing mental health resources, and connecting users with professional help.</a:t>
            </a:r>
          </a:p>
          <a:p>
            <a:pPr>
              <a:buNone/>
            </a:pPr>
            <a:endParaRPr lang="en-IN" sz="1600" dirty="0"/>
          </a:p>
          <a:p>
            <a:pPr>
              <a:buNone/>
            </a:pPr>
            <a:r>
              <a:rPr lang="en-IN" sz="1600" dirty="0"/>
              <a:t>With context awareness and real-time adaptation, the system understands user emotions and changing needs to deliver safe, personalized guidance.</a:t>
            </a:r>
          </a:p>
          <a:p>
            <a:pPr>
              <a:buNone/>
            </a:pPr>
            <a:endParaRPr lang="en-IN" sz="1600" dirty="0"/>
          </a:p>
          <a:p>
            <a:pPr>
              <a:buNone/>
            </a:pPr>
            <a:r>
              <a:rPr lang="en-IN" sz="1600" dirty="0"/>
              <a:t>Overall, Agentic AI makes the solution empathetic, preventive, and goal-oriented, acting as a digital mental health companion for awareness and timely support.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Mental Health Agent combines Agentic AI, RAG, and personalization to create an intelligent and supportive mental wellness system.</a:t>
            </a:r>
          </a:p>
          <a:p>
            <a:pPr marL="285750" indent="-285750">
              <a:buFont typeface="Arial" panose="020B0604020202020204" pitchFamily="34" charset="0"/>
              <a:buChar char="•"/>
            </a:pPr>
            <a:r>
              <a:rPr lang="en-IN" sz="1800" b="1" dirty="0"/>
              <a:t>Multi-Agent Intelligence</a:t>
            </a:r>
            <a:r>
              <a:rPr lang="en-IN" sz="1800" dirty="0"/>
              <a:t> – Multiple specialized agents collaborate for emotional analysis, resource retrieval, risk detection, and personalized support. </a:t>
            </a:r>
          </a:p>
          <a:p>
            <a:pPr marL="285750" indent="-285750">
              <a:buFont typeface="Arial" panose="020B0604020202020204" pitchFamily="34" charset="0"/>
              <a:buChar char="•"/>
            </a:pPr>
            <a:r>
              <a:rPr lang="en-IN" sz="1800" b="1" dirty="0"/>
              <a:t>RAG-Based Reliability</a:t>
            </a:r>
            <a:r>
              <a:rPr lang="en-IN" sz="1800" dirty="0"/>
              <a:t> – Uses trusted mental health resources with AI generation to provide accurate and safe guidance. </a:t>
            </a:r>
          </a:p>
          <a:p>
            <a:pPr marL="285750" indent="-285750">
              <a:buFont typeface="Arial" panose="020B0604020202020204" pitchFamily="34" charset="0"/>
              <a:buChar char="•"/>
            </a:pPr>
            <a:r>
              <a:rPr lang="en-IN" sz="1800" b="1" dirty="0"/>
              <a:t>Personalized Support</a:t>
            </a:r>
            <a:r>
              <a:rPr lang="en-IN" sz="1800" dirty="0"/>
              <a:t> – Adapts responses based on user emotions, conversations, and mental health needs. </a:t>
            </a:r>
          </a:p>
          <a:p>
            <a:pPr marL="285750" indent="-285750">
              <a:buFont typeface="Arial" panose="020B0604020202020204" pitchFamily="34" charset="0"/>
              <a:buChar char="•"/>
            </a:pPr>
            <a:r>
              <a:rPr lang="en-IN" sz="1800" b="1" dirty="0"/>
              <a:t>Real-Time Risk Monitoring</a:t>
            </a:r>
            <a:r>
              <a:rPr lang="en-IN" sz="1800" dirty="0"/>
              <a:t> – Detects distress patterns and provides timely preventive suggestions with user consent. </a:t>
            </a:r>
          </a:p>
          <a:p>
            <a:pPr marL="285750" indent="-285750">
              <a:buFont typeface="Arial" panose="020B0604020202020204" pitchFamily="34" charset="0"/>
              <a:buChar char="•"/>
            </a:pPr>
            <a:r>
              <a:rPr lang="en-IN" sz="1800" b="1" dirty="0"/>
              <a:t>Multi-Modal Interaction</a:t>
            </a:r>
            <a:r>
              <a:rPr lang="en-IN" sz="1800" dirty="0"/>
              <a:t> – Supports text, voice, and journaling inputs for accessible mental health assistance. </a:t>
            </a:r>
          </a:p>
          <a:p>
            <a:pPr marL="285750" indent="-285750">
              <a:buFont typeface="Arial" panose="020B0604020202020204" pitchFamily="34" charset="0"/>
              <a:buChar char="•"/>
            </a:pPr>
            <a:r>
              <a:rPr lang="en-IN" sz="1800" b="1" dirty="0"/>
              <a:t>Preventive Mental Healthcare Focus</a:t>
            </a:r>
            <a:r>
              <a:rPr lang="en-IN" sz="1800" dirty="0"/>
              <a:t> – Promotes awareness, mindfulness, coping strategies, and early intervention. </a:t>
            </a:r>
          </a:p>
          <a:p>
            <a:pPr marL="285750" indent="-285750">
              <a:buFont typeface="Arial" panose="020B0604020202020204" pitchFamily="34" charset="0"/>
              <a:buChar char="•"/>
            </a:pPr>
            <a:r>
              <a:rPr lang="en-IN" sz="1800" b="1" dirty="0"/>
              <a:t>Scalable &amp; Secure System</a:t>
            </a:r>
            <a:r>
              <a:rPr lang="en-IN" sz="1800" dirty="0"/>
              <a:t> – Built using IBM </a:t>
            </a:r>
            <a:r>
              <a:rPr lang="en-IN" sz="1800" dirty="0" err="1"/>
              <a:t>Langflow</a:t>
            </a:r>
            <a:r>
              <a:rPr lang="en-IN" sz="1800" dirty="0"/>
              <a:t>/IBM Orchestrate and IBM Granite models for reliable AI-driven support. </a:t>
            </a:r>
          </a:p>
          <a:p>
            <a:r>
              <a:rPr lang="en-IN" sz="1800" dirty="0"/>
              <a:t>This makes the solution an empathetic, proactive, and adaptive digital mental health companion that supports awareness, early detection, and timely human connection.</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383097"/>
            <a:ext cx="6444496" cy="661166"/>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Font typeface="+mj-lt"/>
              <a:buAutoNum type="arabicPeriod"/>
            </a:pPr>
            <a:r>
              <a:rPr lang="en-IN" sz="2000" b="1" dirty="0"/>
              <a:t>Wearable &amp; Health Device Integration</a:t>
            </a:r>
            <a:r>
              <a:rPr lang="en-IN" sz="2000" dirty="0"/>
              <a:t> – Collects real-time data like sleep, stress levels, and activity patterns to provide timely mental wellness support.</a:t>
            </a:r>
          </a:p>
          <a:p>
            <a:pPr marL="457200" indent="-457200">
              <a:buFont typeface="+mj-lt"/>
              <a:buAutoNum type="arabicPeriod"/>
            </a:pPr>
            <a:endParaRPr lang="en-IN" sz="2000" b="1" dirty="0"/>
          </a:p>
          <a:p>
            <a:pPr marL="457200" indent="-457200">
              <a:buFont typeface="+mj-lt"/>
              <a:buAutoNum type="arabicPeriod"/>
            </a:pPr>
            <a:r>
              <a:rPr lang="en-IN" sz="2000" b="1" dirty="0"/>
              <a:t>AI Voice Assistant &amp; Multilingual Support</a:t>
            </a:r>
            <a:r>
              <a:rPr lang="en-IN" sz="2000" dirty="0"/>
              <a:t> – Enables natural conversations in multiple languages, improving accessibility and inclusiveness.</a:t>
            </a:r>
          </a:p>
          <a:p>
            <a:pPr marL="457200" indent="-457200">
              <a:buFont typeface="+mj-lt"/>
              <a:buAutoNum type="arabicPeriod"/>
            </a:pPr>
            <a:endParaRPr lang="en-IN" sz="2000" b="1" dirty="0"/>
          </a:p>
          <a:p>
            <a:pPr marL="457200" indent="-457200">
              <a:buFont typeface="+mj-lt"/>
              <a:buAutoNum type="arabicPeriod"/>
            </a:pPr>
            <a:r>
              <a:rPr lang="en-IN" sz="2000" b="1" dirty="0"/>
              <a:t>Predictive Risk Analysis</a:t>
            </a:r>
            <a:r>
              <a:rPr lang="en-IN" sz="2000" dirty="0"/>
              <a:t> – Uses AI to identify emotional patterns and detect potential risks early for preventive intervention.</a:t>
            </a:r>
          </a:p>
          <a:p>
            <a:pPr marL="457200" indent="-457200">
              <a:buFont typeface="+mj-lt"/>
              <a:buAutoNum type="arabicPeriod"/>
            </a:pPr>
            <a:endParaRPr lang="en-IN" sz="2000" b="1" dirty="0"/>
          </a:p>
          <a:p>
            <a:pPr marL="457200" indent="-457200">
              <a:buFont typeface="+mj-lt"/>
              <a:buAutoNum type="arabicPeriod"/>
            </a:pPr>
            <a:r>
              <a:rPr lang="en-IN" sz="2000" b="1" dirty="0"/>
              <a:t>Professional Support Integration</a:t>
            </a:r>
            <a:r>
              <a:rPr lang="en-IN" sz="2000" dirty="0"/>
              <a:t> – Connects users with counselors, therapists, and helplines during critical situations.</a:t>
            </a:r>
          </a:p>
          <a:p>
            <a:pPr marL="457200" indent="-457200">
              <a:buFont typeface="+mj-lt"/>
              <a:buAutoNum type="arabicPeriod"/>
            </a:pPr>
            <a:endParaRPr lang="en-IN" sz="2000" b="1" dirty="0"/>
          </a:p>
          <a:p>
            <a:pPr marL="457200" indent="-457200">
              <a:buFont typeface="+mj-lt"/>
              <a:buAutoNum type="arabicPeriod"/>
            </a:pPr>
            <a:r>
              <a:rPr lang="en-IN" sz="2000" b="1" dirty="0"/>
              <a:t>Personalized Wellness Plans</a:t>
            </a:r>
            <a:r>
              <a:rPr lang="en-IN" sz="2000" dirty="0"/>
              <a:t> – Generates customized mindfulness, coping, and self-care strategies based on user needs.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b="1" dirty="0"/>
              <a:t>Certificates Earned:</a:t>
            </a:r>
          </a:p>
          <a:p>
            <a:endParaRPr lang="en-US" sz="2400" b="1" dirty="0"/>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5" name="Picture 4">
            <a:extLst>
              <a:ext uri="{FF2B5EF4-FFF2-40B4-BE49-F238E27FC236}">
                <a16:creationId xmlns:a16="http://schemas.microsoft.com/office/drawing/2014/main" id="{82C17AEE-53EC-1987-525E-B441DD404743}"/>
              </a:ext>
            </a:extLst>
          </p:cNvPr>
          <p:cNvPicPr>
            <a:picLocks noChangeAspect="1"/>
          </p:cNvPicPr>
          <p:nvPr/>
        </p:nvPicPr>
        <p:blipFill>
          <a:blip r:embed="rId2"/>
          <a:stretch>
            <a:fillRect/>
          </a:stretch>
        </p:blipFill>
        <p:spPr>
          <a:xfrm>
            <a:off x="2097833" y="884488"/>
            <a:ext cx="7996334" cy="597351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3C9C5C-FEB6-FDCB-E8AC-465B27E251AF}"/>
              </a:ext>
            </a:extLst>
          </p:cNvPr>
          <p:cNvSpPr txBox="1"/>
          <p:nvPr/>
        </p:nvSpPr>
        <p:spPr>
          <a:xfrm>
            <a:off x="324464" y="259066"/>
            <a:ext cx="6096000" cy="461665"/>
          </a:xfrm>
          <a:prstGeom prst="rect">
            <a:avLst/>
          </a:prstGeom>
          <a:noFill/>
        </p:spPr>
        <p:txBody>
          <a:bodyPr wrap="square">
            <a:spAutoFit/>
          </a:bodyPr>
          <a:lstStyle/>
          <a:p>
            <a:r>
              <a:rPr lang="en-IN" sz="2400" b="1" dirty="0"/>
              <a:t>Certificates Earned:</a:t>
            </a:r>
          </a:p>
        </p:txBody>
      </p:sp>
      <p:pic>
        <p:nvPicPr>
          <p:cNvPr id="5" name="Picture 4">
            <a:extLst>
              <a:ext uri="{FF2B5EF4-FFF2-40B4-BE49-F238E27FC236}">
                <a16:creationId xmlns:a16="http://schemas.microsoft.com/office/drawing/2014/main" id="{5F05FAA8-513E-FD07-5438-FE5931D176AF}"/>
              </a:ext>
            </a:extLst>
          </p:cNvPr>
          <p:cNvPicPr>
            <a:picLocks noChangeAspect="1"/>
          </p:cNvPicPr>
          <p:nvPr/>
        </p:nvPicPr>
        <p:blipFill>
          <a:blip r:embed="rId2"/>
          <a:stretch>
            <a:fillRect/>
          </a:stretch>
        </p:blipFill>
        <p:spPr>
          <a:xfrm>
            <a:off x="2270174" y="720731"/>
            <a:ext cx="7651652" cy="5878203"/>
          </a:xfrm>
          <a:prstGeom prst="rect">
            <a:avLst/>
          </a:prstGeom>
        </p:spPr>
      </p:pic>
    </p:spTree>
    <p:extLst>
      <p:ext uri="{BB962C8B-B14F-4D97-AF65-F5344CB8AC3E}">
        <p14:creationId xmlns:p14="http://schemas.microsoft.com/office/powerpoint/2010/main" val="3708694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9E21A797-A868-C0E9-F562-65E24363DDBF}"/>
              </a:ext>
            </a:extLst>
          </p:cNvPr>
          <p:cNvPicPr>
            <a:picLocks noChangeAspect="1"/>
          </p:cNvPicPr>
          <p:nvPr/>
        </p:nvPicPr>
        <p:blipFill>
          <a:blip r:embed="rId2"/>
          <a:stretch>
            <a:fillRect/>
          </a:stretch>
        </p:blipFill>
        <p:spPr>
          <a:xfrm>
            <a:off x="2248324" y="903499"/>
            <a:ext cx="8665482" cy="5746634"/>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IN" sz="2000" dirty="0">
                <a:hlinkClick r:id="rId3"/>
              </a:rPr>
              <a:t>ruturajgandhi1-oss/</a:t>
            </a:r>
            <a:r>
              <a:rPr lang="en-IN" sz="2000" dirty="0" err="1">
                <a:hlinkClick r:id="rId3"/>
              </a:rPr>
              <a:t>MindGuard</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1288</Words>
  <Application>Microsoft Office PowerPoint</Application>
  <PresentationFormat>Widescreen</PresentationFormat>
  <Paragraphs>111</Paragraphs>
  <Slides>16</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ruturajgandhi1@gmail.com</cp:lastModifiedBy>
  <cp:revision>99</cp:revision>
  <dcterms:created xsi:type="dcterms:W3CDTF">2025-07-08T05:06:56Z</dcterms:created>
  <dcterms:modified xsi:type="dcterms:W3CDTF">2026-07-15T04:50:33Z</dcterms:modified>
</cp:coreProperties>
</file>